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9753600" cx="13004800"/>
  <p:notesSz cx="6858000" cy="9144000"/>
  <p:embeddedFontLst>
    <p:embeddedFont>
      <p:font typeface="Merriweather Sans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Gill San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2wWBekfulnbNb8eOzAoZTq2Ms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GillSans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erriweatherSans-bold.fntdata"/><Relationship Id="rId16" Type="http://schemas.openxmlformats.org/officeDocument/2006/relationships/font" Target="fonts/MerriweatherSans-regular.fntdata"/><Relationship Id="rId19" Type="http://schemas.openxmlformats.org/officeDocument/2006/relationships/font" Target="fonts/MerriweatherSans-boldItalic.fntdata"/><Relationship Id="rId18" Type="http://schemas.openxmlformats.org/officeDocument/2006/relationships/font" Target="fonts/Merriweather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the Solver’s Automata Type tell us about the analysis question of interest, in context of CFLR?</a:t>
            </a:r>
            <a:endParaRPr/>
          </a:p>
        </p:txBody>
      </p:sp>
      <p:sp>
        <p:nvSpPr>
          <p:cNvPr id="33" name="Google Shape;3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only reachable path from S to T is through the loop.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6 types: All-Pairs, Single-Source, Single-Target, Source-Target, Multi-Source, Multi-Target</a:t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Hesitate to label this a contribution</a:t>
            </a:r>
            <a:endParaRPr/>
          </a:p>
        </p:txBody>
      </p:sp>
      <p:sp>
        <p:nvSpPr>
          <p:cNvPr id="47" name="Google Shape;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 &amp; Language contributes</a:t>
            </a:r>
            <a:br>
              <a:rPr lang="en-US"/>
            </a:br>
            <a:r>
              <a:rPr lang="en-US"/>
              <a:t>0. Possibly Uninitialized Analysis. CFL based on Dyck, therefore needs PDA</a:t>
            </a:r>
            <a:br>
              <a:rPr lang="en-US"/>
            </a:br>
            <a:r>
              <a:rPr lang="en-US"/>
              <a:t>1. Inter-procedural Program Slicing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Shape Analysis</a:t>
            </a:r>
            <a:br>
              <a:rPr lang="en-US"/>
            </a:br>
            <a:br>
              <a:rPr lang="en-US"/>
            </a:br>
            <a:r>
              <a:rPr lang="en-US"/>
              <a:t>But what about questions that don’t fit the 6 ways?</a:t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basis of almost all other analyses. Missing from all papers I read. Its control-flow analysis, but still</a:t>
            </a:r>
            <a:endParaRPr/>
          </a:p>
        </p:txBody>
      </p:sp>
      <p:sp>
        <p:nvSpPr>
          <p:cNvPr id="63" name="Google Shape;6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Missing types of CFLR</a:t>
            </a:r>
            <a:br>
              <a:rPr lang="en-US"/>
            </a:br>
            <a:r>
              <a:rPr lang="en-US"/>
              <a:t>Not yet dominance, need intersection for it</a:t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b715ce34_0_2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Missing types of CFLR</a:t>
            </a:r>
            <a:br>
              <a:rPr lang="en-US"/>
            </a:br>
            <a:r>
              <a:rPr lang="en-US"/>
              <a:t>Not yet dominance, need intersection (define it too) for it</a:t>
            </a:r>
            <a:endParaRPr/>
          </a:p>
        </p:txBody>
      </p:sp>
      <p:sp>
        <p:nvSpPr>
          <p:cNvPr id="80" name="Google Shape;80;g3aeb715ce34_0_2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eb715ce34_0_2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of Intuition and Reasoning for Big-O (and no need for a stack like other)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Original Paper mentions O(n^3) bottleneck</a:t>
            </a:r>
            <a:endParaRPr/>
          </a:p>
        </p:txBody>
      </p:sp>
      <p:sp>
        <p:nvSpPr>
          <p:cNvPr id="89" name="Google Shape;89;g3aeb715ce34_0_2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No memory needed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Little memory required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Stack Required</a:t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showMasterSp="0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3251200" y="-1"/>
            <a:ext cx="9753600" cy="9753601"/>
          </a:xfrm>
          <a:prstGeom prst="rect">
            <a:avLst/>
          </a:prstGeom>
          <a:solidFill>
            <a:srgbClr val="CDB680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Poppins"/>
              <a:buNone/>
              <a:defRPr sz="8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270000" y="5029200"/>
            <a:ext cx="1046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424053" lvl="5" marL="2743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6pPr>
            <a:lvl7pPr indent="-424053" lvl="6" marL="32004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7pPr>
            <a:lvl8pPr indent="-424053" lvl="7" marL="3657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8pPr>
            <a:lvl9pPr indent="-424053" lvl="8" marL="41148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3078"/>
              <a:buChar char="•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showMasterSp="0">
  <p:cSld name="Title - Cen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Poppins"/>
              <a:buNone/>
              <a:defRPr sz="8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sz="1800"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0" y="0"/>
            <a:ext cx="13004800" cy="1473200"/>
          </a:xfrm>
          <a:prstGeom prst="rect">
            <a:avLst/>
          </a:prstGeom>
          <a:solidFill>
            <a:srgbClr val="CDB680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  <a:defRPr b="0" i="0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444500" y="1676400"/>
            <a:ext cx="12115800" cy="7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619506" lvl="0" marL="457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619506" lvl="1" marL="9144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619506" lvl="2" marL="13716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619506" lvl="3" marL="18288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619506" lvl="4" marL="22860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619506" lvl="5" marL="27432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619506" lvl="6" marL="32004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619506" lvl="7" marL="36576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619506" lvl="8" marL="41148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156"/>
              <a:buFont typeface="Poppins"/>
              <a:buChar char="•"/>
              <a:defRPr b="0" i="0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2" type="sldNum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  <a:def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title"/>
          </p:nvPr>
        </p:nvSpPr>
        <p:spPr>
          <a:xfrm>
            <a:off x="1270000" y="68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600"/>
              <a:t>State-Machine Qualia and </a:t>
            </a:r>
            <a:r>
              <a:rPr lang="en-US" sz="5600"/>
              <a:t>its</a:t>
            </a:r>
            <a:r>
              <a:rPr lang="en-US" sz="5600"/>
              <a:t> effects on Context-Free Language Reachability</a:t>
            </a:r>
            <a:endParaRPr sz="5600"/>
          </a:p>
        </p:txBody>
      </p:sp>
      <p:sp>
        <p:nvSpPr>
          <p:cNvPr id="28" name="Google Shape;28;p1"/>
          <p:cNvSpPr txBox="1"/>
          <p:nvPr>
            <p:ph idx="1" type="body"/>
          </p:nvPr>
        </p:nvSpPr>
        <p:spPr>
          <a:xfrm>
            <a:off x="1270000" y="8305800"/>
            <a:ext cx="10464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lang="en-US"/>
              <a:t>In-Class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oppins"/>
              <a:buNone/>
            </a:pPr>
            <a:r>
              <a:rPr lang="en-US"/>
              <a:t>12/09/2025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630899" y="5119000"/>
            <a:ext cx="1743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oppins"/>
              <a:buNone/>
            </a:pPr>
            <a:r>
              <a:rPr lang="en-US" sz="2000">
                <a:latin typeface="Poppins"/>
                <a:ea typeface="Poppins"/>
                <a:cs typeface="Poppins"/>
                <a:sym typeface="Poppins"/>
              </a:rPr>
              <a:t>Henri Malahieude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226531" y="6687008"/>
            <a:ext cx="6553275" cy="68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Poppin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University of Colorado Boulder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123975" y="2094000"/>
            <a:ext cx="12770700" cy="56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Poppins"/>
              <a:buNone/>
            </a:pPr>
            <a:r>
              <a:t/>
            </a:r>
            <a:endParaRPr/>
          </a:p>
        </p:txBody>
      </p:sp>
      <p:pic>
        <p:nvPicPr>
          <p:cNvPr id="36" name="Google Shape;3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2742274" cy="955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Context-Free Language Reachability</a:t>
            </a:r>
            <a:endParaRPr/>
          </a:p>
        </p:txBody>
      </p:sp>
      <p:sp>
        <p:nvSpPr>
          <p:cNvPr id="42" name="Google Shape;42;p3"/>
          <p:cNvSpPr txBox="1"/>
          <p:nvPr>
            <p:ph idx="12" type="sldNum"/>
          </p:nvPr>
        </p:nvSpPr>
        <p:spPr>
          <a:xfrm>
            <a:off x="6381749" y="9258300"/>
            <a:ext cx="228601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3"/>
          <p:cNvPicPr preferRelativeResize="0"/>
          <p:nvPr/>
        </p:nvPicPr>
        <p:blipFill rotWithShape="1">
          <a:blip r:embed="rId3">
            <a:alphaModFix/>
          </a:blip>
          <a:srcRect b="0" l="7182" r="7920" t="0"/>
          <a:stretch/>
        </p:blipFill>
        <p:spPr>
          <a:xfrm>
            <a:off x="0" y="3903000"/>
            <a:ext cx="13004800" cy="234389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[1]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Points-To Analysis w/o Automata</a:t>
            </a:r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780650" y="1865175"/>
            <a:ext cx="4372800" cy="3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 = &amp;b;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d = &amp;c;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d = a;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e = &amp;a;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*e = d;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f = *e;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18130" l="3202" r="3435" t="7102"/>
          <a:stretch/>
        </p:blipFill>
        <p:spPr>
          <a:xfrm>
            <a:off x="5746450" y="2104888"/>
            <a:ext cx="6477700" cy="29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[1]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780650" y="6270175"/>
            <a:ext cx="11443500" cy="20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No Language Needed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Trivial Regex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O(e)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Complex Inter-Procedural Analysis</a:t>
            </a:r>
            <a:endParaRPr/>
          </a:p>
        </p:txBody>
      </p:sp>
      <p:pic>
        <p:nvPicPr>
          <p:cNvPr id="59" name="Google Shape;5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050" y="1644200"/>
            <a:ext cx="8154700" cy="81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[1]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What about Dominance?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1203050" y="1475350"/>
            <a:ext cx="10598700" cy="2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Uninitialized(cur) = (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ⵡ</a:t>
            </a:r>
            <a:r>
              <a:rPr baseline="-25000" lang="en-US" sz="2600">
                <a:latin typeface="Poppins"/>
                <a:ea typeface="Poppins"/>
                <a:cs typeface="Poppins"/>
                <a:sym typeface="Poppins"/>
              </a:rPr>
              <a:t>j ∊pred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Uninitialized(j))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Initialized(cur)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Dominates(cur) = (</a:t>
            </a:r>
            <a:r>
              <a:rPr lang="en-US" sz="3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⊓</a:t>
            </a:r>
            <a:r>
              <a:rPr baseline="-25000" lang="en-US" sz="2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baseline="-25000"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∊pred</a:t>
            </a:r>
            <a:r>
              <a:rPr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Dominates(j))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ⵡ </a:t>
            </a:r>
            <a:r>
              <a:rPr lang="en-US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{cur}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" name="Google Shape;67;p5"/>
          <p:cNvPicPr preferRelativeResize="0"/>
          <p:nvPr/>
        </p:nvPicPr>
        <p:blipFill rotWithShape="1">
          <a:blip r:embed="rId3">
            <a:alphaModFix/>
          </a:blip>
          <a:srcRect b="0" l="616" r="0" t="358"/>
          <a:stretch/>
        </p:blipFill>
        <p:spPr>
          <a:xfrm>
            <a:off x="4195275" y="3531750"/>
            <a:ext cx="4642950" cy="59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Contribution 1: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Single-Source All-Paths Intersection</a:t>
            </a:r>
            <a:endParaRPr/>
          </a:p>
        </p:txBody>
      </p:sp>
      <p:pic>
        <p:nvPicPr>
          <p:cNvPr id="74" name="Google Shape;7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888" y="3880875"/>
            <a:ext cx="4295775" cy="5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 txBox="1"/>
          <p:nvPr/>
        </p:nvSpPr>
        <p:spPr>
          <a:xfrm>
            <a:off x="1200675" y="3880875"/>
            <a:ext cx="5099100" cy="5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:= a 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1</a:t>
            </a:r>
            <a:endParaRPr baseline="-25000"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:= b 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| 𝛆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:= c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| 𝛆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:= d 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3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| 𝛆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:= e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| 𝛆</a:t>
            </a:r>
            <a:endParaRPr baseline="-25000"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3 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:= e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| 𝛆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1200675" y="1719475"/>
            <a:ext cx="10518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L = a(b(d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)|c)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endParaRPr baseline="30000"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Contribution 1: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b715ce34_0_267"/>
          <p:cNvSpPr txBox="1"/>
          <p:nvPr>
            <p:ph type="title"/>
          </p:nvPr>
        </p:nvSpPr>
        <p:spPr>
          <a:xfrm>
            <a:off x="444500" y="101600"/>
            <a:ext cx="12115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Single-Source All-Paths Intersection</a:t>
            </a:r>
            <a:endParaRPr/>
          </a:p>
        </p:txBody>
      </p:sp>
      <p:pic>
        <p:nvPicPr>
          <p:cNvPr id="83" name="Google Shape;83;g3aeb715ce34_0_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888" y="3880875"/>
            <a:ext cx="4295775" cy="543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aeb715ce34_0_267"/>
          <p:cNvSpPr txBox="1"/>
          <p:nvPr/>
        </p:nvSpPr>
        <p:spPr>
          <a:xfrm>
            <a:off x="1200675" y="3880875"/>
            <a:ext cx="5099100" cy="5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Paths (A -&gt; F):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Poppins"/>
              <a:buChar char="●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a, c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Poppins"/>
              <a:buChar char="●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a, b, e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Poppins"/>
              <a:buChar char="●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a, b, d, e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Paths (A -&gt; E):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Poppins"/>
              <a:buChar char="●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a, b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Poppins"/>
              <a:buChar char="●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a, b, d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g3aeb715ce34_0_267"/>
          <p:cNvSpPr txBox="1"/>
          <p:nvPr/>
        </p:nvSpPr>
        <p:spPr>
          <a:xfrm>
            <a:off x="1200675" y="1719475"/>
            <a:ext cx="105180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L = a(b(d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)|c)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?</a:t>
            </a:r>
            <a:endParaRPr baseline="30000"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Dominance = L</a:t>
            </a:r>
            <a:r>
              <a:rPr baseline="-25000" lang="en-US" sz="3600"/>
              <a:t>o</a:t>
            </a:r>
            <a:r>
              <a:rPr lang="en-US" sz="3600"/>
              <a:t> ⊓ L</a:t>
            </a:r>
            <a:r>
              <a:rPr baseline="-25000" lang="en-US" sz="3600"/>
              <a:t>1 </a:t>
            </a:r>
            <a:r>
              <a:rPr lang="en-US" sz="3600">
                <a:solidFill>
                  <a:schemeClr val="dk1"/>
                </a:solidFill>
              </a:rPr>
              <a:t>⊓ … ⊓ L</a:t>
            </a:r>
            <a:r>
              <a:rPr baseline="-25000" lang="en-US" sz="3600">
                <a:solidFill>
                  <a:schemeClr val="dk1"/>
                </a:solidFill>
              </a:rPr>
              <a:t>n</a:t>
            </a:r>
            <a:endParaRPr baseline="-25000" sz="3600"/>
          </a:p>
        </p:txBody>
      </p:sp>
      <p:sp>
        <p:nvSpPr>
          <p:cNvPr id="86" name="Google Shape;86;g3aeb715ce34_0_267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Contribution 1: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b715ce34_0_256"/>
          <p:cNvSpPr txBox="1"/>
          <p:nvPr>
            <p:ph type="title"/>
          </p:nvPr>
        </p:nvSpPr>
        <p:spPr>
          <a:xfrm>
            <a:off x="444500" y="101600"/>
            <a:ext cx="12115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Algorithm Analysis</a:t>
            </a:r>
            <a:endParaRPr/>
          </a:p>
        </p:txBody>
      </p:sp>
      <p:sp>
        <p:nvSpPr>
          <p:cNvPr id="92" name="Google Shape;92;g3aeb715ce34_0_256"/>
          <p:cNvSpPr txBox="1"/>
          <p:nvPr/>
        </p:nvSpPr>
        <p:spPr>
          <a:xfrm>
            <a:off x="444500" y="3986100"/>
            <a:ext cx="12436800" cy="29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[Regex] O(w) : w = |string|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[Dominance] O(e * log</a:t>
            </a:r>
            <a:r>
              <a:rPr baseline="-25000" lang="en-US" sz="3600"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(v)) : e = edges, v = #vertices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[General Bottleneck] O(n</a:t>
            </a:r>
            <a:r>
              <a:rPr baseline="30000" lang="en-US" sz="3600"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g3aeb715ce34_0_256"/>
          <p:cNvSpPr txBox="1"/>
          <p:nvPr/>
        </p:nvSpPr>
        <p:spPr>
          <a:xfrm>
            <a:off x="0" y="9279300"/>
            <a:ext cx="42957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Poppins"/>
                <a:ea typeface="Poppins"/>
                <a:cs typeface="Poppins"/>
                <a:sym typeface="Poppins"/>
              </a:rPr>
              <a:t>Contribution 2:</a:t>
            </a:r>
            <a:endParaRPr b="1" sz="1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99" name="Google Shape;99;p9"/>
          <p:cNvSpPr txBox="1"/>
          <p:nvPr/>
        </p:nvSpPr>
        <p:spPr>
          <a:xfrm>
            <a:off x="444700" y="1823250"/>
            <a:ext cx="12036300" cy="75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rabi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Regex &amp; Finite State-Machines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lphaL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Simple Points-To Analysis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rabi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Regex Intersection: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lphaL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Dominance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rabi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Pushdown Automata: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lphaLcPeriod"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Interprocedural Analysis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rabicPeriod"/>
            </a:pPr>
            <a:r>
              <a:rPr lang="en-US" sz="36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Visibly Pushdown Automata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[2]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oppins"/>
              <a:buAutoNum type="arabicPeriod"/>
            </a:pPr>
            <a:r>
              <a:rPr lang="en-US" sz="3600"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Recursive State-Machines</a:t>
            </a: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 [3]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oppins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5" name="Google Shape;105;p11"/>
          <p:cNvSpPr txBox="1"/>
          <p:nvPr/>
        </p:nvSpPr>
        <p:spPr>
          <a:xfrm>
            <a:off x="3688550" y="3579750"/>
            <a:ext cx="56277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sz="3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50" y="6380700"/>
            <a:ext cx="13004700" cy="3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Program Analysis via Graph Reachability, </a:t>
            </a:r>
            <a:br>
              <a:rPr lang="en-US" sz="2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Thomas Reps, LP 1997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Visibly Pushdown Languages,</a:t>
            </a:r>
            <a:br>
              <a:rPr lang="en-US" sz="2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Alur et al., STOC 2004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Poppins"/>
              <a:buAutoNum type="arabicPeriod"/>
            </a:pP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Analysis of Recursive State-Machines,</a:t>
            </a:r>
            <a:br>
              <a:rPr lang="en-US" sz="26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2600">
                <a:latin typeface="Poppins"/>
                <a:ea typeface="Poppins"/>
                <a:cs typeface="Poppins"/>
                <a:sym typeface="Poppins"/>
              </a:rPr>
              <a:t>Alur et al., TOPLAS 2005</a:t>
            </a:r>
            <a:endParaRPr sz="2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